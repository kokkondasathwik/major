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1325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50" b="1" i="0">
                <a:solidFill>
                  <a:srgbClr val="181857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255"/>
              </a:lnSpc>
            </a:pPr>
            <a:r>
              <a:rPr dirty="0"/>
              <a:t>Vallurupalli</a:t>
            </a:r>
            <a:r>
              <a:rPr spc="-15" dirty="0"/>
              <a:t> </a:t>
            </a:r>
            <a:r>
              <a:rPr spc="-70" dirty="0"/>
              <a:t>Nageswara</a:t>
            </a:r>
            <a:r>
              <a:rPr spc="-5" dirty="0"/>
              <a:t> </a:t>
            </a:r>
            <a:r>
              <a:rPr dirty="0"/>
              <a:t>Rao</a:t>
            </a:r>
            <a:r>
              <a:rPr spc="-10" dirty="0"/>
              <a:t> </a:t>
            </a:r>
            <a:r>
              <a:rPr spc="-20" dirty="0"/>
              <a:t>Vignana</a:t>
            </a:r>
            <a:r>
              <a:rPr dirty="0"/>
              <a:t> Jyothi</a:t>
            </a:r>
            <a:r>
              <a:rPr spc="30" dirty="0"/>
              <a:t> </a:t>
            </a:r>
            <a:r>
              <a:rPr dirty="0"/>
              <a:t>Institute</a:t>
            </a:r>
            <a:r>
              <a:rPr spc="-3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20" dirty="0"/>
              <a:t>Engineering</a:t>
            </a:r>
            <a:r>
              <a:rPr spc="15" dirty="0"/>
              <a:t> </a:t>
            </a:r>
            <a:r>
              <a:rPr dirty="0"/>
              <a:t>&amp;</a:t>
            </a:r>
            <a:r>
              <a:rPr spc="50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50" b="1" i="0">
                <a:solidFill>
                  <a:srgbClr val="181857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255"/>
              </a:lnSpc>
            </a:pPr>
            <a:r>
              <a:rPr dirty="0"/>
              <a:t>Vallurupalli</a:t>
            </a:r>
            <a:r>
              <a:rPr spc="-15" dirty="0"/>
              <a:t> </a:t>
            </a:r>
            <a:r>
              <a:rPr spc="-70" dirty="0"/>
              <a:t>Nageswara</a:t>
            </a:r>
            <a:r>
              <a:rPr spc="-5" dirty="0"/>
              <a:t> </a:t>
            </a:r>
            <a:r>
              <a:rPr dirty="0"/>
              <a:t>Rao</a:t>
            </a:r>
            <a:r>
              <a:rPr spc="-10" dirty="0"/>
              <a:t> </a:t>
            </a:r>
            <a:r>
              <a:rPr spc="-20" dirty="0"/>
              <a:t>Vignana</a:t>
            </a:r>
            <a:r>
              <a:rPr dirty="0"/>
              <a:t> Jyothi</a:t>
            </a:r>
            <a:r>
              <a:rPr spc="30" dirty="0"/>
              <a:t> </a:t>
            </a:r>
            <a:r>
              <a:rPr dirty="0"/>
              <a:t>Institute</a:t>
            </a:r>
            <a:r>
              <a:rPr spc="-3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20" dirty="0"/>
              <a:t>Engineering</a:t>
            </a:r>
            <a:r>
              <a:rPr spc="15" dirty="0"/>
              <a:t> </a:t>
            </a:r>
            <a:r>
              <a:rPr dirty="0"/>
              <a:t>&amp;</a:t>
            </a:r>
            <a:r>
              <a:rPr spc="50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50" b="1" i="0">
                <a:solidFill>
                  <a:srgbClr val="181857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255"/>
              </a:lnSpc>
            </a:pPr>
            <a:r>
              <a:rPr dirty="0"/>
              <a:t>Vallurupalli</a:t>
            </a:r>
            <a:r>
              <a:rPr spc="-15" dirty="0"/>
              <a:t> </a:t>
            </a:r>
            <a:r>
              <a:rPr spc="-70" dirty="0"/>
              <a:t>Nageswara</a:t>
            </a:r>
            <a:r>
              <a:rPr spc="-5" dirty="0"/>
              <a:t> </a:t>
            </a:r>
            <a:r>
              <a:rPr dirty="0"/>
              <a:t>Rao</a:t>
            </a:r>
            <a:r>
              <a:rPr spc="-10" dirty="0"/>
              <a:t> </a:t>
            </a:r>
            <a:r>
              <a:rPr spc="-20" dirty="0"/>
              <a:t>Vignana</a:t>
            </a:r>
            <a:r>
              <a:rPr dirty="0"/>
              <a:t> Jyothi</a:t>
            </a:r>
            <a:r>
              <a:rPr spc="30" dirty="0"/>
              <a:t> </a:t>
            </a:r>
            <a:r>
              <a:rPr dirty="0"/>
              <a:t>Institute</a:t>
            </a:r>
            <a:r>
              <a:rPr spc="-3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20" dirty="0"/>
              <a:t>Engineering</a:t>
            </a:r>
            <a:r>
              <a:rPr spc="15" dirty="0"/>
              <a:t> </a:t>
            </a:r>
            <a:r>
              <a:rPr dirty="0"/>
              <a:t>&amp;</a:t>
            </a:r>
            <a:r>
              <a:rPr spc="50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50" b="1" i="0">
                <a:solidFill>
                  <a:srgbClr val="181857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255"/>
              </a:lnSpc>
            </a:pPr>
            <a:r>
              <a:rPr dirty="0"/>
              <a:t>Vallurupalli</a:t>
            </a:r>
            <a:r>
              <a:rPr spc="-15" dirty="0"/>
              <a:t> </a:t>
            </a:r>
            <a:r>
              <a:rPr spc="-70" dirty="0"/>
              <a:t>Nageswara</a:t>
            </a:r>
            <a:r>
              <a:rPr spc="-5" dirty="0"/>
              <a:t> </a:t>
            </a:r>
            <a:r>
              <a:rPr dirty="0"/>
              <a:t>Rao</a:t>
            </a:r>
            <a:r>
              <a:rPr spc="-10" dirty="0"/>
              <a:t> </a:t>
            </a:r>
            <a:r>
              <a:rPr spc="-20" dirty="0"/>
              <a:t>Vignana</a:t>
            </a:r>
            <a:r>
              <a:rPr dirty="0"/>
              <a:t> Jyothi</a:t>
            </a:r>
            <a:r>
              <a:rPr spc="30" dirty="0"/>
              <a:t> </a:t>
            </a:r>
            <a:r>
              <a:rPr dirty="0"/>
              <a:t>Institute</a:t>
            </a:r>
            <a:r>
              <a:rPr spc="-3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20" dirty="0"/>
              <a:t>Engineering</a:t>
            </a:r>
            <a:r>
              <a:rPr spc="15" dirty="0"/>
              <a:t> </a:t>
            </a:r>
            <a:r>
              <a:rPr dirty="0"/>
              <a:t>&amp;</a:t>
            </a:r>
            <a:r>
              <a:rPr spc="50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255"/>
              </a:lnSpc>
            </a:pPr>
            <a:r>
              <a:rPr dirty="0"/>
              <a:t>Vallurupalli</a:t>
            </a:r>
            <a:r>
              <a:rPr spc="-15" dirty="0"/>
              <a:t> </a:t>
            </a:r>
            <a:r>
              <a:rPr spc="-70" dirty="0"/>
              <a:t>Nageswara</a:t>
            </a:r>
            <a:r>
              <a:rPr spc="-5" dirty="0"/>
              <a:t> </a:t>
            </a:r>
            <a:r>
              <a:rPr dirty="0"/>
              <a:t>Rao</a:t>
            </a:r>
            <a:r>
              <a:rPr spc="-10" dirty="0"/>
              <a:t> </a:t>
            </a:r>
            <a:r>
              <a:rPr spc="-20" dirty="0"/>
              <a:t>Vignana</a:t>
            </a:r>
            <a:r>
              <a:rPr dirty="0"/>
              <a:t> Jyothi</a:t>
            </a:r>
            <a:r>
              <a:rPr spc="30" dirty="0"/>
              <a:t> </a:t>
            </a:r>
            <a:r>
              <a:rPr dirty="0"/>
              <a:t>Institute</a:t>
            </a:r>
            <a:r>
              <a:rPr spc="-3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20" dirty="0"/>
              <a:t>Engineering</a:t>
            </a:r>
            <a:r>
              <a:rPr spc="15" dirty="0"/>
              <a:t> </a:t>
            </a:r>
            <a:r>
              <a:rPr dirty="0"/>
              <a:t>&amp;</a:t>
            </a:r>
            <a:r>
              <a:rPr spc="50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4800" y="1225295"/>
            <a:ext cx="509015" cy="54559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30058" y="1323798"/>
            <a:ext cx="3075304" cy="4965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50" b="1" i="0">
                <a:solidFill>
                  <a:srgbClr val="181857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92317" y="2588738"/>
            <a:ext cx="8870315" cy="2540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66480" y="6397548"/>
            <a:ext cx="4753609" cy="1739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255"/>
              </a:lnSpc>
            </a:pPr>
            <a:r>
              <a:rPr dirty="0"/>
              <a:t>Vallurupalli</a:t>
            </a:r>
            <a:r>
              <a:rPr spc="-15" dirty="0"/>
              <a:t> </a:t>
            </a:r>
            <a:r>
              <a:rPr spc="-70" dirty="0"/>
              <a:t>Nageswara</a:t>
            </a:r>
            <a:r>
              <a:rPr spc="-5" dirty="0"/>
              <a:t> </a:t>
            </a:r>
            <a:r>
              <a:rPr dirty="0"/>
              <a:t>Rao</a:t>
            </a:r>
            <a:r>
              <a:rPr spc="-10" dirty="0"/>
              <a:t> </a:t>
            </a:r>
            <a:r>
              <a:rPr spc="-20" dirty="0"/>
              <a:t>Vignana</a:t>
            </a:r>
            <a:r>
              <a:rPr dirty="0"/>
              <a:t> Jyothi</a:t>
            </a:r>
            <a:r>
              <a:rPr spc="30" dirty="0"/>
              <a:t> </a:t>
            </a:r>
            <a:r>
              <a:rPr dirty="0"/>
              <a:t>Institute</a:t>
            </a:r>
            <a:r>
              <a:rPr spc="-3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20" dirty="0"/>
              <a:t>Engineering</a:t>
            </a:r>
            <a:r>
              <a:rPr spc="15" dirty="0"/>
              <a:t> </a:t>
            </a:r>
            <a:r>
              <a:rPr dirty="0"/>
              <a:t>&amp;</a:t>
            </a:r>
            <a:r>
              <a:rPr spc="50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62506" y="1869412"/>
            <a:ext cx="4595495" cy="526426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803400" marR="5080" indent="-1791335">
              <a:lnSpc>
                <a:spcPts val="1920"/>
              </a:lnSpc>
              <a:spcBef>
                <a:spcPts val="305"/>
              </a:spcBef>
            </a:pPr>
            <a:r>
              <a:rPr lang="it-IT" sz="1750" dirty="0"/>
              <a:t>Neuro-AI: Hybrid Model for Cognitive Enhancements</a:t>
            </a:r>
            <a:endParaRPr sz="1750" dirty="0"/>
          </a:p>
        </p:txBody>
      </p:sp>
      <p:sp>
        <p:nvSpPr>
          <p:cNvPr id="3" name="object 3"/>
          <p:cNvSpPr txBox="1"/>
          <p:nvPr/>
        </p:nvSpPr>
        <p:spPr>
          <a:xfrm>
            <a:off x="1295400" y="3711551"/>
            <a:ext cx="1102995" cy="1847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50" b="1" dirty="0">
                <a:latin typeface="Arial"/>
                <a:cs typeface="Arial"/>
              </a:rPr>
              <a:t>PRESENTED</a:t>
            </a:r>
            <a:r>
              <a:rPr sz="1050" b="1" spc="-10" dirty="0">
                <a:latin typeface="Arial"/>
                <a:cs typeface="Arial"/>
              </a:rPr>
              <a:t> </a:t>
            </a:r>
            <a:r>
              <a:rPr sz="1050" b="1" spc="-25" dirty="0">
                <a:latin typeface="Arial"/>
                <a:cs typeface="Arial"/>
              </a:rPr>
              <a:t>BY:</a:t>
            </a:r>
            <a:endParaRPr sz="105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71450" y="4159048"/>
            <a:ext cx="908050" cy="690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41935">
              <a:lnSpc>
                <a:spcPct val="111400"/>
              </a:lnSpc>
              <a:spcBef>
                <a:spcPts val="100"/>
              </a:spcBef>
            </a:pPr>
            <a:r>
              <a:rPr sz="1050" spc="-55" dirty="0">
                <a:latin typeface="Times New Roman"/>
                <a:cs typeface="Times New Roman"/>
              </a:rPr>
              <a:t>E.JAFRASH </a:t>
            </a:r>
            <a:r>
              <a:rPr sz="1050" spc="-45" dirty="0">
                <a:latin typeface="Times New Roman"/>
                <a:cs typeface="Times New Roman"/>
              </a:rPr>
              <a:t>G.PRANAY</a:t>
            </a:r>
            <a:endParaRPr sz="1050" dirty="0">
              <a:latin typeface="Times New Roman"/>
              <a:cs typeface="Times New Roman"/>
            </a:endParaRPr>
          </a:p>
          <a:p>
            <a:pPr marL="12700" marR="5080">
              <a:lnSpc>
                <a:spcPts val="1210"/>
              </a:lnSpc>
              <a:spcBef>
                <a:spcPts val="35"/>
              </a:spcBef>
            </a:pPr>
            <a:r>
              <a:rPr sz="1050" spc="-10" dirty="0">
                <a:latin typeface="Times New Roman"/>
                <a:cs typeface="Times New Roman"/>
              </a:rPr>
              <a:t>K.SATWIK </a:t>
            </a:r>
            <a:r>
              <a:rPr sz="1050" spc="-45" dirty="0">
                <a:latin typeface="Times New Roman"/>
                <a:cs typeface="Times New Roman"/>
              </a:rPr>
              <a:t>M.GOUTHAM</a:t>
            </a:r>
            <a:r>
              <a:rPr sz="1050" spc="95" dirty="0">
                <a:latin typeface="Times New Roman"/>
                <a:cs typeface="Times New Roman"/>
              </a:rPr>
              <a:t> </a:t>
            </a:r>
            <a:r>
              <a:rPr sz="1050" spc="-50" dirty="0">
                <a:latin typeface="Times New Roman"/>
                <a:cs typeface="Times New Roman"/>
              </a:rPr>
              <a:t>-</a:t>
            </a:r>
            <a:endParaRPr sz="105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70471" y="4159048"/>
            <a:ext cx="841375" cy="690245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R="10160" algn="r">
              <a:lnSpc>
                <a:spcPct val="100000"/>
              </a:lnSpc>
              <a:spcBef>
                <a:spcPts val="245"/>
              </a:spcBef>
            </a:pPr>
            <a:r>
              <a:rPr sz="1050" dirty="0">
                <a:latin typeface="Times New Roman"/>
                <a:cs typeface="Times New Roman"/>
              </a:rPr>
              <a:t>-</a:t>
            </a:r>
            <a:r>
              <a:rPr sz="1050" spc="330" dirty="0">
                <a:latin typeface="Times New Roman"/>
                <a:cs typeface="Times New Roman"/>
              </a:rPr>
              <a:t> </a:t>
            </a:r>
            <a:r>
              <a:rPr sz="1050" spc="-10" dirty="0">
                <a:latin typeface="Times New Roman"/>
                <a:cs typeface="Times New Roman"/>
              </a:rPr>
              <a:t>22071A6774</a:t>
            </a:r>
            <a:endParaRPr sz="1050" dirty="0">
              <a:latin typeface="Times New Roman"/>
              <a:cs typeface="Times New Roman"/>
            </a:endParaRPr>
          </a:p>
          <a:p>
            <a:pPr marR="5080" algn="r">
              <a:lnSpc>
                <a:spcPts val="1235"/>
              </a:lnSpc>
              <a:spcBef>
                <a:spcPts val="145"/>
              </a:spcBef>
            </a:pPr>
            <a:r>
              <a:rPr sz="1050" dirty="0">
                <a:latin typeface="Times New Roman"/>
                <a:cs typeface="Times New Roman"/>
              </a:rPr>
              <a:t>-</a:t>
            </a:r>
            <a:r>
              <a:rPr sz="1050" spc="330" dirty="0">
                <a:latin typeface="Times New Roman"/>
                <a:cs typeface="Times New Roman"/>
              </a:rPr>
              <a:t> </a:t>
            </a:r>
            <a:r>
              <a:rPr sz="1050" spc="-10" dirty="0">
                <a:latin typeface="Times New Roman"/>
                <a:cs typeface="Times New Roman"/>
              </a:rPr>
              <a:t>22071A6777</a:t>
            </a:r>
            <a:endParaRPr sz="1050" dirty="0">
              <a:latin typeface="Times New Roman"/>
              <a:cs typeface="Times New Roman"/>
            </a:endParaRPr>
          </a:p>
          <a:p>
            <a:pPr marL="133985" marR="15240" indent="-121920" algn="r">
              <a:lnSpc>
                <a:spcPts val="1210"/>
              </a:lnSpc>
              <a:spcBef>
                <a:spcPts val="55"/>
              </a:spcBef>
            </a:pPr>
            <a:r>
              <a:rPr sz="1050" dirty="0">
                <a:latin typeface="Times New Roman"/>
                <a:cs typeface="Times New Roman"/>
              </a:rPr>
              <a:t>-</a:t>
            </a:r>
            <a:r>
              <a:rPr sz="1050" spc="370" dirty="0">
                <a:latin typeface="Times New Roman"/>
                <a:cs typeface="Times New Roman"/>
              </a:rPr>
              <a:t> </a:t>
            </a:r>
            <a:r>
              <a:rPr sz="1050" spc="-25" dirty="0">
                <a:latin typeface="Times New Roman"/>
                <a:cs typeface="Times New Roman"/>
              </a:rPr>
              <a:t>22071A6787 </a:t>
            </a:r>
            <a:r>
              <a:rPr sz="1050" spc="-20" dirty="0">
                <a:latin typeface="Times New Roman"/>
                <a:cs typeface="Times New Roman"/>
              </a:rPr>
              <a:t>22071A6793</a:t>
            </a:r>
            <a:endParaRPr sz="105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64276" y="3896336"/>
            <a:ext cx="483234" cy="1847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50" b="1" spc="-10" dirty="0">
                <a:latin typeface="Arial"/>
                <a:cs typeface="Arial"/>
              </a:rPr>
              <a:t>GUIDE:</a:t>
            </a:r>
            <a:endParaRPr sz="1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64276" y="4175226"/>
            <a:ext cx="2609215" cy="495934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 marR="1466215">
              <a:lnSpc>
                <a:spcPts val="1220"/>
              </a:lnSpc>
              <a:spcBef>
                <a:spcPts val="165"/>
              </a:spcBef>
            </a:pPr>
            <a:r>
              <a:rPr sz="1050" spc="-10" dirty="0">
                <a:latin typeface="Arial MT"/>
                <a:cs typeface="Arial MT"/>
              </a:rPr>
              <a:t>Dr.N.Sunanda </a:t>
            </a:r>
            <a:r>
              <a:rPr sz="1050" spc="-20" dirty="0">
                <a:latin typeface="Arial MT"/>
                <a:cs typeface="Arial MT"/>
              </a:rPr>
              <a:t>Assistant</a:t>
            </a:r>
            <a:r>
              <a:rPr sz="1050" spc="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Professor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ts val="1195"/>
              </a:lnSpc>
            </a:pPr>
            <a:r>
              <a:rPr sz="1050" spc="-10" dirty="0">
                <a:latin typeface="Arial MT"/>
                <a:cs typeface="Arial MT"/>
              </a:rPr>
              <a:t>Department </a:t>
            </a:r>
            <a:r>
              <a:rPr sz="1050" dirty="0">
                <a:latin typeface="Arial MT"/>
                <a:cs typeface="Arial MT"/>
              </a:rPr>
              <a:t>of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CSE-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(CyS and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DS),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AI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&amp;</a:t>
            </a:r>
            <a:r>
              <a:rPr sz="1050" spc="-125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DS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0" y="5839967"/>
            <a:ext cx="10049510" cy="379730"/>
          </a:xfrm>
          <a:prstGeom prst="rect">
            <a:avLst/>
          </a:prstGeom>
          <a:solidFill>
            <a:srgbClr val="FFE970"/>
          </a:solidFill>
        </p:spPr>
        <p:txBody>
          <a:bodyPr vert="horz" wrap="square" lIns="0" tIns="105410" rIns="0" bIns="0" rtlCol="0">
            <a:spAutoFit/>
          </a:bodyPr>
          <a:lstStyle/>
          <a:p>
            <a:pPr marR="67310" algn="ctr">
              <a:lnSpc>
                <a:spcPct val="100000"/>
              </a:lnSpc>
              <a:spcBef>
                <a:spcPts val="830"/>
              </a:spcBef>
            </a:pPr>
            <a:r>
              <a:rPr sz="1050" dirty="0">
                <a:latin typeface="Arial MT"/>
                <a:cs typeface="Arial MT"/>
              </a:rPr>
              <a:t>Department</a:t>
            </a:r>
            <a:r>
              <a:rPr sz="1050" spc="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of</a:t>
            </a:r>
            <a:r>
              <a:rPr sz="1050" spc="-6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CSE-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(CyS,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DS),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AI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&amp;DS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6219444"/>
            <a:ext cx="10049510" cy="489584"/>
          </a:xfrm>
          <a:custGeom>
            <a:avLst/>
            <a:gdLst/>
            <a:ahLst/>
            <a:cxnLst/>
            <a:rect l="l" t="t" r="r" b="b"/>
            <a:pathLst>
              <a:path w="10049510" h="489584">
                <a:moveTo>
                  <a:pt x="10049256" y="489203"/>
                </a:moveTo>
                <a:lnTo>
                  <a:pt x="0" y="489203"/>
                </a:lnTo>
                <a:lnTo>
                  <a:pt x="0" y="0"/>
                </a:lnTo>
                <a:lnTo>
                  <a:pt x="10049256" y="0"/>
                </a:lnTo>
                <a:lnTo>
                  <a:pt x="10049256" y="489203"/>
                </a:lnTo>
                <a:close/>
              </a:path>
            </a:pathLst>
          </a:custGeom>
          <a:solidFill>
            <a:srgbClr val="1342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5"/>
              </a:lnSpc>
            </a:pPr>
            <a:r>
              <a:rPr dirty="0"/>
              <a:t>Vallurupalli</a:t>
            </a:r>
            <a:r>
              <a:rPr spc="-15" dirty="0"/>
              <a:t> </a:t>
            </a:r>
            <a:r>
              <a:rPr spc="-70" dirty="0"/>
              <a:t>Nageswara</a:t>
            </a:r>
            <a:r>
              <a:rPr spc="-5" dirty="0"/>
              <a:t> </a:t>
            </a:r>
            <a:r>
              <a:rPr dirty="0"/>
              <a:t>Rao</a:t>
            </a:r>
            <a:r>
              <a:rPr spc="-10" dirty="0"/>
              <a:t> </a:t>
            </a:r>
            <a:r>
              <a:rPr spc="-20" dirty="0"/>
              <a:t>Vignana</a:t>
            </a:r>
            <a:r>
              <a:rPr dirty="0"/>
              <a:t> Jyothi</a:t>
            </a:r>
            <a:r>
              <a:rPr spc="30" dirty="0"/>
              <a:t> </a:t>
            </a:r>
            <a:r>
              <a:rPr dirty="0"/>
              <a:t>Institute</a:t>
            </a:r>
            <a:r>
              <a:rPr spc="-3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20" dirty="0"/>
              <a:t>Engineering</a:t>
            </a:r>
            <a:r>
              <a:rPr spc="15" dirty="0"/>
              <a:t> </a:t>
            </a:r>
            <a:r>
              <a:rPr dirty="0"/>
              <a:t>&amp;</a:t>
            </a:r>
            <a:r>
              <a:rPr spc="50" dirty="0"/>
              <a:t> </a:t>
            </a:r>
            <a:r>
              <a:rPr spc="-10" dirty="0"/>
              <a:t>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87103" y="914701"/>
            <a:ext cx="3075304" cy="496568"/>
          </a:xfrm>
          <a:prstGeom prst="rect">
            <a:avLst/>
          </a:prstGeom>
        </p:spPr>
        <p:txBody>
          <a:bodyPr vert="horz" wrap="square" lIns="0" tIns="113219" rIns="0" bIns="0" rtlCol="0">
            <a:spAutoFit/>
          </a:bodyPr>
          <a:lstStyle/>
          <a:p>
            <a:pPr marL="842644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ABSTRACT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0" y="5839967"/>
            <a:ext cx="10049510" cy="379730"/>
          </a:xfrm>
          <a:prstGeom prst="rect">
            <a:avLst/>
          </a:prstGeom>
          <a:solidFill>
            <a:srgbClr val="FFE970"/>
          </a:solidFill>
        </p:spPr>
        <p:txBody>
          <a:bodyPr vert="horz" wrap="square" lIns="0" tIns="105410" rIns="0" bIns="0" rtlCol="0">
            <a:spAutoFit/>
          </a:bodyPr>
          <a:lstStyle/>
          <a:p>
            <a:pPr marR="67310" algn="ctr">
              <a:lnSpc>
                <a:spcPct val="100000"/>
              </a:lnSpc>
              <a:spcBef>
                <a:spcPts val="830"/>
              </a:spcBef>
            </a:pPr>
            <a:r>
              <a:rPr sz="1050" dirty="0">
                <a:latin typeface="Arial MT"/>
                <a:cs typeface="Arial MT"/>
              </a:rPr>
              <a:t>Department</a:t>
            </a:r>
            <a:r>
              <a:rPr sz="1050" spc="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of</a:t>
            </a:r>
            <a:r>
              <a:rPr sz="1050" spc="-6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CSE-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(CyS,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DS),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AI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&amp;DS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6219444"/>
            <a:ext cx="10049510" cy="489584"/>
          </a:xfrm>
          <a:custGeom>
            <a:avLst/>
            <a:gdLst/>
            <a:ahLst/>
            <a:cxnLst/>
            <a:rect l="l" t="t" r="r" b="b"/>
            <a:pathLst>
              <a:path w="10049510" h="489584">
                <a:moveTo>
                  <a:pt x="10049256" y="489203"/>
                </a:moveTo>
                <a:lnTo>
                  <a:pt x="0" y="489203"/>
                </a:lnTo>
                <a:lnTo>
                  <a:pt x="0" y="0"/>
                </a:lnTo>
                <a:lnTo>
                  <a:pt x="10049256" y="0"/>
                </a:lnTo>
                <a:lnTo>
                  <a:pt x="10049256" y="489203"/>
                </a:lnTo>
                <a:close/>
              </a:path>
            </a:pathLst>
          </a:custGeom>
          <a:solidFill>
            <a:srgbClr val="1342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5"/>
              </a:lnSpc>
            </a:pPr>
            <a:r>
              <a:rPr dirty="0"/>
              <a:t>Vallurupalli</a:t>
            </a:r>
            <a:r>
              <a:rPr spc="-15" dirty="0"/>
              <a:t> </a:t>
            </a:r>
            <a:r>
              <a:rPr spc="-70" dirty="0"/>
              <a:t>Nageswara</a:t>
            </a:r>
            <a:r>
              <a:rPr spc="-5" dirty="0"/>
              <a:t> </a:t>
            </a:r>
            <a:r>
              <a:rPr dirty="0"/>
              <a:t>Rao</a:t>
            </a:r>
            <a:r>
              <a:rPr spc="-10" dirty="0"/>
              <a:t> </a:t>
            </a:r>
            <a:r>
              <a:rPr spc="-20" dirty="0"/>
              <a:t>Vignana</a:t>
            </a:r>
            <a:r>
              <a:rPr dirty="0"/>
              <a:t> Jyothi</a:t>
            </a:r>
            <a:r>
              <a:rPr spc="30" dirty="0"/>
              <a:t> </a:t>
            </a:r>
            <a:r>
              <a:rPr dirty="0"/>
              <a:t>Institute</a:t>
            </a:r>
            <a:r>
              <a:rPr spc="-3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20" dirty="0"/>
              <a:t>Engineering</a:t>
            </a:r>
            <a:r>
              <a:rPr spc="15" dirty="0"/>
              <a:t> </a:t>
            </a:r>
            <a:r>
              <a:rPr dirty="0"/>
              <a:t>&amp;</a:t>
            </a:r>
            <a:r>
              <a:rPr spc="50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9DE5FB42-A57D-5FAB-09C5-97A8D967A3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1528711"/>
            <a:ext cx="8229600" cy="39339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Cognitive enhancement requires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of neuroscience and artificial intelligence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Neuro-AI focuses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augmenting human-like abilities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such as memory, reasoning, learning, and emotional intelligence.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enables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adaptive learning, context-aware decision-making, and neural-inspired processing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Trained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multimodal cognitive datasets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ensure scalability and real-world adaptability.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 To create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smarter, more adaptive Neuro-AI system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bridges the gap between biological and artificial cognition.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87103" y="1078212"/>
            <a:ext cx="3075304" cy="49656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9403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INTRODUCTION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0" y="5839967"/>
            <a:ext cx="10049510" cy="379730"/>
          </a:xfrm>
          <a:prstGeom prst="rect">
            <a:avLst/>
          </a:prstGeom>
          <a:solidFill>
            <a:srgbClr val="FFE970"/>
          </a:solidFill>
        </p:spPr>
        <p:txBody>
          <a:bodyPr vert="horz" wrap="square" lIns="0" tIns="105410" rIns="0" bIns="0" rtlCol="0">
            <a:spAutoFit/>
          </a:bodyPr>
          <a:lstStyle/>
          <a:p>
            <a:pPr marR="67310" algn="ctr">
              <a:lnSpc>
                <a:spcPct val="100000"/>
              </a:lnSpc>
              <a:spcBef>
                <a:spcPts val="830"/>
              </a:spcBef>
            </a:pPr>
            <a:r>
              <a:rPr sz="1050" dirty="0">
                <a:latin typeface="Arial MT"/>
                <a:cs typeface="Arial MT"/>
              </a:rPr>
              <a:t>Department</a:t>
            </a:r>
            <a:r>
              <a:rPr sz="1050" spc="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of</a:t>
            </a:r>
            <a:r>
              <a:rPr sz="1050" spc="-6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CSE-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(CyS,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DS),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AI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&amp;DS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6219444"/>
            <a:ext cx="10049510" cy="489584"/>
          </a:xfrm>
          <a:custGeom>
            <a:avLst/>
            <a:gdLst/>
            <a:ahLst/>
            <a:cxnLst/>
            <a:rect l="l" t="t" r="r" b="b"/>
            <a:pathLst>
              <a:path w="10049510" h="489584">
                <a:moveTo>
                  <a:pt x="10049256" y="489203"/>
                </a:moveTo>
                <a:lnTo>
                  <a:pt x="0" y="489203"/>
                </a:lnTo>
                <a:lnTo>
                  <a:pt x="0" y="0"/>
                </a:lnTo>
                <a:lnTo>
                  <a:pt x="10049256" y="0"/>
                </a:lnTo>
                <a:lnTo>
                  <a:pt x="10049256" y="489203"/>
                </a:lnTo>
                <a:close/>
              </a:path>
            </a:pathLst>
          </a:custGeom>
          <a:solidFill>
            <a:srgbClr val="1342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5"/>
              </a:lnSpc>
            </a:pPr>
            <a:r>
              <a:rPr dirty="0"/>
              <a:t>Vallurupalli</a:t>
            </a:r>
            <a:r>
              <a:rPr spc="-15" dirty="0"/>
              <a:t> </a:t>
            </a:r>
            <a:r>
              <a:rPr spc="-70" dirty="0"/>
              <a:t>Nageswara</a:t>
            </a:r>
            <a:r>
              <a:rPr spc="-5" dirty="0"/>
              <a:t> </a:t>
            </a:r>
            <a:r>
              <a:rPr dirty="0"/>
              <a:t>Rao</a:t>
            </a:r>
            <a:r>
              <a:rPr spc="-10" dirty="0"/>
              <a:t> </a:t>
            </a:r>
            <a:r>
              <a:rPr spc="-20" dirty="0"/>
              <a:t>Vignana</a:t>
            </a:r>
            <a:r>
              <a:rPr dirty="0"/>
              <a:t> Jyothi</a:t>
            </a:r>
            <a:r>
              <a:rPr spc="30" dirty="0"/>
              <a:t> </a:t>
            </a:r>
            <a:r>
              <a:rPr dirty="0"/>
              <a:t>Institute</a:t>
            </a:r>
            <a:r>
              <a:rPr spc="-3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20" dirty="0"/>
              <a:t>Engineering</a:t>
            </a:r>
            <a:r>
              <a:rPr spc="15" dirty="0"/>
              <a:t> </a:t>
            </a:r>
            <a:r>
              <a:rPr dirty="0"/>
              <a:t>&amp;</a:t>
            </a:r>
            <a:r>
              <a:rPr spc="50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E5DE75CD-4477-1A33-6692-F360917D4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663705"/>
            <a:ext cx="876300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MT"/>
              </a:rPr>
              <a:t>Human cognition involves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MT"/>
              </a:rPr>
              <a:t>memory, reasoning, learning, and adaptability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MT"/>
              </a:rPr>
              <a:t>, which current AI systems cannot fully replicate.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M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MT"/>
              </a:rPr>
              <a:t>Neuroscience-inspired models capture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MT"/>
              </a:rPr>
              <a:t>biological intelligence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MT"/>
              </a:rPr>
              <a:t>, but struggle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MT"/>
              </a:rPr>
              <a:t>scalability and generalization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M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M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MT"/>
              </a:rPr>
              <a:t>Neuro-AI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MT"/>
              </a:rPr>
              <a:t> integrates neuroscience principles with artificial intelligence to create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MT"/>
              </a:rPr>
              <a:t>hybrid cognitive model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M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M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MT"/>
              </a:rPr>
              <a:t>The hybrid approach combines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MT"/>
              </a:rPr>
              <a:t>deep neural networks, symbolic reasoning, and reinforcement learning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M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M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MT"/>
              </a:rPr>
              <a:t>Aim: To bridge the gap between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MT"/>
              </a:rPr>
              <a:t>biological cognition and machine intelligence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MT"/>
              </a:rPr>
              <a:t>, improving problem-solving, decision-making, and human-AI collaboration.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75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PROBLEM</a:t>
            </a:r>
            <a:r>
              <a:rPr spc="-35" dirty="0"/>
              <a:t>  </a:t>
            </a:r>
            <a:r>
              <a:rPr spc="-10" dirty="0"/>
              <a:t>STATEMENT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0" y="5839967"/>
            <a:ext cx="10049510" cy="379730"/>
          </a:xfrm>
          <a:prstGeom prst="rect">
            <a:avLst/>
          </a:prstGeom>
          <a:solidFill>
            <a:srgbClr val="FFE970"/>
          </a:solidFill>
        </p:spPr>
        <p:txBody>
          <a:bodyPr vert="horz" wrap="square" lIns="0" tIns="105410" rIns="0" bIns="0" rtlCol="0">
            <a:spAutoFit/>
          </a:bodyPr>
          <a:lstStyle/>
          <a:p>
            <a:pPr marR="67310" algn="ctr">
              <a:lnSpc>
                <a:spcPct val="100000"/>
              </a:lnSpc>
              <a:spcBef>
                <a:spcPts val="830"/>
              </a:spcBef>
            </a:pPr>
            <a:r>
              <a:rPr sz="1050" dirty="0">
                <a:latin typeface="Arial MT"/>
                <a:cs typeface="Arial MT"/>
              </a:rPr>
              <a:t>Department</a:t>
            </a:r>
            <a:r>
              <a:rPr sz="1050" spc="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of</a:t>
            </a:r>
            <a:r>
              <a:rPr sz="1050" spc="-6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CSE-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(CyS,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DS),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AI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&amp;DS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6219444"/>
            <a:ext cx="10049510" cy="489584"/>
          </a:xfrm>
          <a:custGeom>
            <a:avLst/>
            <a:gdLst/>
            <a:ahLst/>
            <a:cxnLst/>
            <a:rect l="l" t="t" r="r" b="b"/>
            <a:pathLst>
              <a:path w="10049510" h="489584">
                <a:moveTo>
                  <a:pt x="10049256" y="489203"/>
                </a:moveTo>
                <a:lnTo>
                  <a:pt x="0" y="489203"/>
                </a:lnTo>
                <a:lnTo>
                  <a:pt x="0" y="0"/>
                </a:lnTo>
                <a:lnTo>
                  <a:pt x="10049256" y="0"/>
                </a:lnTo>
                <a:lnTo>
                  <a:pt x="10049256" y="489203"/>
                </a:lnTo>
                <a:close/>
              </a:path>
            </a:pathLst>
          </a:custGeom>
          <a:solidFill>
            <a:srgbClr val="1342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5"/>
              </a:lnSpc>
            </a:pPr>
            <a:r>
              <a:rPr dirty="0"/>
              <a:t>Vallurupalli</a:t>
            </a:r>
            <a:r>
              <a:rPr spc="-15" dirty="0"/>
              <a:t> </a:t>
            </a:r>
            <a:r>
              <a:rPr spc="-70" dirty="0"/>
              <a:t>Nageswara</a:t>
            </a:r>
            <a:r>
              <a:rPr spc="-5" dirty="0"/>
              <a:t> </a:t>
            </a:r>
            <a:r>
              <a:rPr dirty="0"/>
              <a:t>Rao</a:t>
            </a:r>
            <a:r>
              <a:rPr spc="-10" dirty="0"/>
              <a:t> </a:t>
            </a:r>
            <a:r>
              <a:rPr spc="-20" dirty="0"/>
              <a:t>Vignana</a:t>
            </a:r>
            <a:r>
              <a:rPr dirty="0"/>
              <a:t> Jyothi</a:t>
            </a:r>
            <a:r>
              <a:rPr spc="30" dirty="0"/>
              <a:t> </a:t>
            </a:r>
            <a:r>
              <a:rPr dirty="0"/>
              <a:t>Institute</a:t>
            </a:r>
            <a:r>
              <a:rPr spc="-3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20" dirty="0"/>
              <a:t>Engineering</a:t>
            </a:r>
            <a:r>
              <a:rPr spc="15" dirty="0"/>
              <a:t> </a:t>
            </a:r>
            <a:r>
              <a:rPr dirty="0"/>
              <a:t>&amp;</a:t>
            </a:r>
            <a:r>
              <a:rPr spc="50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F81B8D-38F0-826A-1191-AFAF5D8695E1}"/>
              </a:ext>
            </a:extLst>
          </p:cNvPr>
          <p:cNvSpPr txBox="1"/>
          <p:nvPr/>
        </p:nvSpPr>
        <p:spPr>
          <a:xfrm>
            <a:off x="304800" y="2057400"/>
            <a:ext cx="9525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MT"/>
              </a:rPr>
              <a:t>Existing AI systems are task-specific and lack the adaptability and contextual reasoning found in human cognition. Similarly, neuroscience-inspired models alone do not scale well to complex tasks.</a:t>
            </a:r>
            <a:br>
              <a:rPr lang="en-US" dirty="0">
                <a:latin typeface="Arial MT"/>
              </a:rPr>
            </a:br>
            <a:br>
              <a:rPr lang="en-US" dirty="0">
                <a:latin typeface="Arial MT"/>
              </a:rPr>
            </a:br>
            <a:r>
              <a:rPr lang="en-US" dirty="0">
                <a:latin typeface="Arial MT"/>
              </a:rPr>
              <a:t>This project addresses the problem by developing a </a:t>
            </a:r>
            <a:r>
              <a:rPr lang="en-US" b="1" dirty="0">
                <a:latin typeface="Arial MT"/>
              </a:rPr>
              <a:t>hybrid Neuro-AI model</a:t>
            </a:r>
            <a:r>
              <a:rPr lang="en-US" dirty="0">
                <a:latin typeface="Arial MT"/>
              </a:rPr>
              <a:t> that combines:</a:t>
            </a:r>
          </a:p>
          <a:p>
            <a:r>
              <a:rPr lang="en-US" dirty="0">
                <a:latin typeface="Arial MT"/>
              </a:rPr>
              <a:t>Neural-inspired learning for adaptability</a:t>
            </a:r>
            <a:br>
              <a:rPr lang="en-US" dirty="0">
                <a:latin typeface="Arial MT"/>
              </a:rPr>
            </a:br>
            <a:endParaRPr lang="en-US" dirty="0">
              <a:latin typeface="Arial M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MT"/>
              </a:rPr>
              <a:t>Symbolic reasoning for logical decision-making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MT"/>
              </a:rPr>
              <a:t>Reinforcement learning for continuous improvement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MT"/>
              </a:rPr>
              <a:t>Our goal is to enhance cognitive functions through a </a:t>
            </a:r>
            <a:r>
              <a:rPr lang="en-US" b="1" dirty="0">
                <a:latin typeface="Arial MT"/>
              </a:rPr>
              <a:t>scalable, hybrid model</a:t>
            </a:r>
            <a:r>
              <a:rPr lang="en-US" dirty="0">
                <a:latin typeface="Arial MT"/>
              </a:rPr>
              <a:t> capable of real-time learning and adaptive decision-making.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52800" y="1098096"/>
            <a:ext cx="3075304" cy="496568"/>
          </a:xfrm>
          <a:prstGeom prst="rect">
            <a:avLst/>
          </a:prstGeom>
        </p:spPr>
        <p:txBody>
          <a:bodyPr vert="horz" wrap="square" lIns="0" tIns="169543" rIns="0" bIns="0" rtlCol="0">
            <a:spAutoFit/>
          </a:bodyPr>
          <a:lstStyle/>
          <a:p>
            <a:pPr marL="73787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OBJECTIVES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592317" y="2588738"/>
            <a:ext cx="8870315" cy="559449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065" marR="1590675">
              <a:lnSpc>
                <a:spcPct val="101600"/>
              </a:lnSpc>
              <a:spcBef>
                <a:spcPts val="5"/>
              </a:spcBef>
              <a:tabLst>
                <a:tab pos="309245" algn="l"/>
              </a:tabLst>
            </a:pPr>
            <a:r>
              <a:rPr lang="en-US" altLang="en-US" dirty="0">
                <a:latin typeface="Arial" panose="020B0604020202020204" pitchFamily="34" charset="0"/>
              </a:rPr>
              <a:t>.</a:t>
            </a:r>
          </a:p>
          <a:p>
            <a:pPr marL="309245" marR="1590675" indent="-297180">
              <a:lnSpc>
                <a:spcPct val="101600"/>
              </a:lnSpc>
              <a:spcBef>
                <a:spcPts val="5"/>
              </a:spcBef>
              <a:buFont typeface="Arial MT"/>
              <a:buChar char="•"/>
              <a:tabLst>
                <a:tab pos="309245" algn="l"/>
              </a:tabLst>
            </a:pPr>
            <a:endParaRPr lang="en-US" dirty="0"/>
          </a:p>
        </p:txBody>
      </p:sp>
      <p:sp>
        <p:nvSpPr>
          <p:cNvPr id="4" name="object 4"/>
          <p:cNvSpPr txBox="1"/>
          <p:nvPr/>
        </p:nvSpPr>
        <p:spPr>
          <a:xfrm>
            <a:off x="0" y="5839967"/>
            <a:ext cx="10049510" cy="379730"/>
          </a:xfrm>
          <a:prstGeom prst="rect">
            <a:avLst/>
          </a:prstGeom>
          <a:solidFill>
            <a:srgbClr val="FFE970"/>
          </a:solidFill>
        </p:spPr>
        <p:txBody>
          <a:bodyPr vert="horz" wrap="square" lIns="0" tIns="105410" rIns="0" bIns="0" rtlCol="0">
            <a:spAutoFit/>
          </a:bodyPr>
          <a:lstStyle/>
          <a:p>
            <a:pPr marR="67310" algn="ctr">
              <a:lnSpc>
                <a:spcPct val="100000"/>
              </a:lnSpc>
              <a:spcBef>
                <a:spcPts val="830"/>
              </a:spcBef>
            </a:pPr>
            <a:r>
              <a:rPr sz="1050" dirty="0">
                <a:latin typeface="Arial MT"/>
                <a:cs typeface="Arial MT"/>
              </a:rPr>
              <a:t>Department</a:t>
            </a:r>
            <a:r>
              <a:rPr sz="1050" spc="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of</a:t>
            </a:r>
            <a:r>
              <a:rPr sz="1050" spc="-6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CSE-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(CyS,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DS),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AI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&amp;DS</a:t>
            </a:r>
            <a:endParaRPr sz="1050" dirty="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6219444"/>
            <a:ext cx="10049510" cy="489584"/>
          </a:xfrm>
          <a:custGeom>
            <a:avLst/>
            <a:gdLst/>
            <a:ahLst/>
            <a:cxnLst/>
            <a:rect l="l" t="t" r="r" b="b"/>
            <a:pathLst>
              <a:path w="10049510" h="489584">
                <a:moveTo>
                  <a:pt x="10049256" y="489203"/>
                </a:moveTo>
                <a:lnTo>
                  <a:pt x="0" y="489203"/>
                </a:lnTo>
                <a:lnTo>
                  <a:pt x="0" y="0"/>
                </a:lnTo>
                <a:lnTo>
                  <a:pt x="10049256" y="0"/>
                </a:lnTo>
                <a:lnTo>
                  <a:pt x="10049256" y="489203"/>
                </a:lnTo>
                <a:close/>
              </a:path>
            </a:pathLst>
          </a:custGeom>
          <a:solidFill>
            <a:srgbClr val="1342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5"/>
              </a:lnSpc>
            </a:pPr>
            <a:r>
              <a:rPr dirty="0"/>
              <a:t>Vallurupalli</a:t>
            </a:r>
            <a:r>
              <a:rPr spc="-15" dirty="0"/>
              <a:t> </a:t>
            </a:r>
            <a:r>
              <a:rPr spc="-70" dirty="0"/>
              <a:t>Nageswara</a:t>
            </a:r>
            <a:r>
              <a:rPr spc="-5" dirty="0"/>
              <a:t> </a:t>
            </a:r>
            <a:r>
              <a:rPr dirty="0"/>
              <a:t>Rao</a:t>
            </a:r>
            <a:r>
              <a:rPr spc="-10" dirty="0"/>
              <a:t> </a:t>
            </a:r>
            <a:r>
              <a:rPr spc="-20" dirty="0"/>
              <a:t>Vignana</a:t>
            </a:r>
            <a:r>
              <a:rPr dirty="0"/>
              <a:t> Jyothi</a:t>
            </a:r>
            <a:r>
              <a:rPr spc="30" dirty="0"/>
              <a:t> </a:t>
            </a:r>
            <a:r>
              <a:rPr dirty="0"/>
              <a:t>Institute</a:t>
            </a:r>
            <a:r>
              <a:rPr spc="-3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20" dirty="0"/>
              <a:t>Engineering</a:t>
            </a:r>
            <a:r>
              <a:rPr spc="15" dirty="0"/>
              <a:t> </a:t>
            </a:r>
            <a:r>
              <a:rPr dirty="0"/>
              <a:t>&amp;</a:t>
            </a:r>
            <a:r>
              <a:rPr spc="50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21B815-E366-FF71-3B2C-1A5A6CF56728}"/>
              </a:ext>
            </a:extLst>
          </p:cNvPr>
          <p:cNvSpPr txBox="1"/>
          <p:nvPr/>
        </p:nvSpPr>
        <p:spPr>
          <a:xfrm>
            <a:off x="381000" y="2057400"/>
            <a:ext cx="9296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MT"/>
              </a:rPr>
              <a:t>●To design a </a:t>
            </a:r>
            <a:r>
              <a:rPr lang="en-US" b="1" dirty="0">
                <a:latin typeface="Arial MT"/>
              </a:rPr>
              <a:t>hybrid Neuro-AI framework</a:t>
            </a:r>
            <a:r>
              <a:rPr lang="en-US" dirty="0">
                <a:latin typeface="Arial MT"/>
              </a:rPr>
              <a:t> integrating neural networks, reinforcement learning, and symbolic AI.</a:t>
            </a:r>
          </a:p>
          <a:p>
            <a:endParaRPr lang="en-US" dirty="0">
              <a:latin typeface="Arial MT"/>
            </a:endParaRPr>
          </a:p>
          <a:p>
            <a:r>
              <a:rPr lang="en-US" dirty="0">
                <a:latin typeface="Arial MT"/>
              </a:rPr>
              <a:t>●To model core cognitive functions such as </a:t>
            </a:r>
            <a:r>
              <a:rPr lang="en-US" b="1" dirty="0">
                <a:latin typeface="Arial MT"/>
              </a:rPr>
              <a:t>memory, reasoning, and decision-making</a:t>
            </a:r>
            <a:r>
              <a:rPr lang="en-US" dirty="0">
                <a:latin typeface="Arial MT"/>
              </a:rPr>
              <a:t>.</a:t>
            </a:r>
            <a:br>
              <a:rPr lang="en-US" dirty="0">
                <a:latin typeface="Arial MT"/>
              </a:rPr>
            </a:br>
            <a:endParaRPr lang="en-US" dirty="0">
              <a:latin typeface="Arial MT"/>
            </a:endParaRPr>
          </a:p>
          <a:p>
            <a:r>
              <a:rPr lang="en-US" dirty="0">
                <a:latin typeface="Arial MT"/>
              </a:rPr>
              <a:t>●To train the system on </a:t>
            </a:r>
            <a:r>
              <a:rPr lang="en-US" b="1" dirty="0">
                <a:latin typeface="Arial MT"/>
              </a:rPr>
              <a:t>multimodal cognitive datasets</a:t>
            </a:r>
            <a:r>
              <a:rPr lang="en-US" dirty="0">
                <a:latin typeface="Arial MT"/>
              </a:rPr>
              <a:t> for adaptability across domains.</a:t>
            </a:r>
          </a:p>
          <a:p>
            <a:br>
              <a:rPr lang="en-US" dirty="0">
                <a:latin typeface="Arial MT"/>
              </a:rPr>
            </a:br>
            <a:r>
              <a:rPr lang="en-US" dirty="0">
                <a:latin typeface="Arial MT"/>
              </a:rPr>
              <a:t>●To evaluate the model on </a:t>
            </a:r>
            <a:r>
              <a:rPr lang="en-US" b="1" dirty="0">
                <a:latin typeface="Arial MT"/>
              </a:rPr>
              <a:t>learning efficiency, decision accuracy, adaptability, and cognitive scalability</a:t>
            </a:r>
            <a:r>
              <a:rPr lang="en-US" dirty="0">
                <a:latin typeface="Arial MT"/>
              </a:rPr>
              <a:t>.</a:t>
            </a:r>
          </a:p>
          <a:p>
            <a:br>
              <a:rPr lang="en-US" dirty="0">
                <a:latin typeface="Arial MT"/>
              </a:rPr>
            </a:br>
            <a:r>
              <a:rPr lang="en-US" dirty="0">
                <a:latin typeface="Arial MT"/>
              </a:rPr>
              <a:t>●To demonstrate applications in </a:t>
            </a:r>
            <a:r>
              <a:rPr lang="en-US" b="1" dirty="0">
                <a:latin typeface="Arial MT"/>
              </a:rPr>
              <a:t>education, healthcare, and human augmentation</a:t>
            </a:r>
            <a:r>
              <a:rPr lang="en-US" dirty="0">
                <a:latin typeface="Arial MT"/>
              </a:rPr>
              <a:t>.</a:t>
            </a:r>
          </a:p>
          <a:p>
            <a:endParaRPr lang="en-IN" dirty="0">
              <a:latin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rontiers | Classification of EEG Signals Based on Pattern Recognition ...">
            <a:extLst>
              <a:ext uri="{FF2B5EF4-FFF2-40B4-BE49-F238E27FC236}">
                <a16:creationId xmlns:a16="http://schemas.microsoft.com/office/drawing/2014/main" id="{A95A941C-2996-363A-10FB-6A25F7A342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8546" y="825666"/>
            <a:ext cx="2828254" cy="210300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Google Cloud Sentiment Analysis">
            <a:extLst>
              <a:ext uri="{FF2B5EF4-FFF2-40B4-BE49-F238E27FC236}">
                <a16:creationId xmlns:a16="http://schemas.microsoft.com/office/drawing/2014/main" id="{9CA5D3F1-5DFD-BBAC-DC0C-2F88003994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76800" y="3733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3DD4D2-954E-4850-7AD1-BE8F7D529B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9704" y="814357"/>
            <a:ext cx="2400300" cy="22574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9C6DD04-18F2-5176-9246-DDF48598DA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319588"/>
            <a:ext cx="3590925" cy="22574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F31D3FF-4387-A102-66B4-4A44C12A79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400" y="3905156"/>
            <a:ext cx="2605088" cy="146033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A73A9CA-DB47-AB57-7F9D-987DF28D8C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99122" y="5486400"/>
            <a:ext cx="1721644" cy="146033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72F653BA-5DC3-7D67-D7F0-3623460C42D1}"/>
              </a:ext>
            </a:extLst>
          </p:cNvPr>
          <p:cNvSpPr/>
          <p:nvPr/>
        </p:nvSpPr>
        <p:spPr>
          <a:xfrm>
            <a:off x="4914900" y="2000234"/>
            <a:ext cx="1856704" cy="11433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528DA899-ACBF-AB67-160A-DB1B881B4E10}"/>
              </a:ext>
            </a:extLst>
          </p:cNvPr>
          <p:cNvSpPr/>
          <p:nvPr/>
        </p:nvSpPr>
        <p:spPr>
          <a:xfrm>
            <a:off x="7891462" y="3071782"/>
            <a:ext cx="109538" cy="111921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Arrow: Left 17">
            <a:extLst>
              <a:ext uri="{FF2B5EF4-FFF2-40B4-BE49-F238E27FC236}">
                <a16:creationId xmlns:a16="http://schemas.microsoft.com/office/drawing/2014/main" id="{C481E6CE-31BF-09E8-838B-468FBFDD24FF}"/>
              </a:ext>
            </a:extLst>
          </p:cNvPr>
          <p:cNvSpPr/>
          <p:nvPr/>
        </p:nvSpPr>
        <p:spPr>
          <a:xfrm>
            <a:off x="4572000" y="5486400"/>
            <a:ext cx="1447800" cy="17143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0366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</TotalTime>
  <Words>481</Words>
  <Application>Microsoft Office PowerPoint</Application>
  <PresentationFormat>Custom</PresentationFormat>
  <Paragraphs>54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Arial MT</vt:lpstr>
      <vt:lpstr>Times New Roman</vt:lpstr>
      <vt:lpstr>Office Theme</vt:lpstr>
      <vt:lpstr>Neuro-AI: Hybrid Model for Cognitive Enhancements</vt:lpstr>
      <vt:lpstr>ABSTRACT</vt:lpstr>
      <vt:lpstr>INTRODUCTION</vt:lpstr>
      <vt:lpstr>PROBLEM  STATEMENT</vt:lpstr>
      <vt:lpstr>OBJECTIVES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major-project[1]</dc:title>
  <dc:creator>Pranay G</dc:creator>
  <cp:lastModifiedBy>Sathwik Kokkonda</cp:lastModifiedBy>
  <cp:revision>2</cp:revision>
  <dcterms:created xsi:type="dcterms:W3CDTF">2025-09-10T11:28:13Z</dcterms:created>
  <dcterms:modified xsi:type="dcterms:W3CDTF">2025-11-23T16:14:44Z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2025-08-22T00:00:00Z</vt:filetime>
  </property>
  <property fmtid="{D5CDD505-2E9C-101B-9397-08002B2CF9AE}" pid="3" name="LastSaved">
    <vt:filetime>2025-09-10T00:00:00Z</vt:filetime>
  </property>
  <property fmtid="{D5CDD505-2E9C-101B-9397-08002B2CF9AE}" pid="4" name="Producer">
    <vt:lpwstr>Microsoft: Print To PDF</vt:lpwstr>
  </property>
</Properties>
</file>